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7" r:id="rId3"/>
    <p:sldId id="268" r:id="rId4"/>
    <p:sldId id="269" r:id="rId5"/>
    <p:sldId id="270" r:id="rId6"/>
    <p:sldId id="265" r:id="rId7"/>
    <p:sldId id="266" r:id="rId8"/>
    <p:sldId id="259" r:id="rId9"/>
    <p:sldId id="260" r:id="rId10"/>
    <p:sldId id="263" r:id="rId11"/>
    <p:sldId id="264" r:id="rId12"/>
    <p:sldId id="261" r:id="rId13"/>
    <p:sldId id="262" r:id="rId14"/>
    <p:sldId id="257" r:id="rId15"/>
    <p:sldId id="258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/>
    <p:restoredTop sz="94608"/>
  </p:normalViewPr>
  <p:slideViewPr>
    <p:cSldViewPr snapToGrid="0">
      <p:cViewPr varScale="1">
        <p:scale>
          <a:sx n="135" d="100"/>
          <a:sy n="13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2D0E0-E168-494B-B12F-572113F95957}" type="datetimeFigureOut"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12F5C-7E4B-3D4C-81B6-B8E9CC618B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Which Design Pattern is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2F5C-7E4B-3D4C-81B6-B8E9CC618B8E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3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which other way could we have implemented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2F5C-7E4B-3D4C-81B6-B8E9CC618B8E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2F5C-7E4B-3D4C-81B6-B8E9CC618B8E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8FFD-EC48-C78E-E505-C1CF3504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2CEB9-17EA-D7EB-084A-8F069D42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7224-05AF-84E9-B12B-A94825BE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54051-1DE8-E946-87ED-A6DD0168B6E9}" type="datetime1"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AEA28-E538-9425-2E05-DAB8CEB0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003C8-E113-E5C5-25CE-FB6FD32D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8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6978-E3FB-6729-B3A6-2ECD4B19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A67B-B903-55AE-55ED-A2FD91F5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149D-8F6B-CC36-163C-CC69E33D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9380-1638-E444-A1CD-42C9E26B3677}" type="datetime1"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0CAA-D999-E636-640C-19DAA58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8317-4B07-9570-74CA-0E049853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2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6786-6F63-294D-B046-4C7E84B4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E9247-B738-8527-713C-A711487BC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F90D-512D-C8D1-69FE-8E12909D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D88F-2DA5-3441-8FC0-5535AD5AF8AF}" type="datetime1"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12ED4-E5C2-104E-55A9-52B350E2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7DED-B57A-1126-4470-53442A2A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9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103E-64B2-D9B5-DAB5-6439E3D0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3E0D-E58B-A470-DE3B-A7F32B1D4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83E7B-E3A8-0FF1-9197-20F8884A2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3F40-5BDA-4CED-898A-A5DAFC07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80DC-17DE-7449-A445-BFB1F4C79519}" type="datetime1"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6833-DF1B-F999-DDDF-BD96032E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B02E8-3B47-B756-F021-CD93266F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77F1-9C86-1A66-3D20-1F30E5F4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1BADC-51A8-3620-9930-48464AB0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F6033-A149-D9F9-EEE9-F5543B786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60B5B-41E1-3E2B-B179-AC8E07697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4B246-CA45-8BEF-22D9-5441E5043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685DC-AADB-85DE-C85F-E46DDC84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EECD-CF74-3C43-B8F0-BA84EE8670B2}" type="datetime1"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87027-070F-7992-FD49-76B96490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BE436-A3F4-FF22-E648-6D0DA6F8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8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7B73-6AED-01C2-045C-49529E13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B8064-14C6-8622-B024-2763EA6A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66C2-85DE-7547-8008-EA1A7EDE8F56}" type="datetime1"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8F615-83BF-DE73-8180-3B464C15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BC4E3-410C-B225-B373-178DA385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0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8D308-AF8F-D911-C080-8BA66464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347B-6142-C749-9167-22BC66141FC6}" type="datetime1"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6DFC3-191A-9C07-F585-4E5D3182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27144-9719-66E8-FEA3-AA486149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765E-5B4C-DDE5-12E0-AB87B49F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79BF3-4E04-8C33-B29C-CDDBD498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8EE3-0419-B846-E4CF-43430C8E1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ADC85-DBFA-015F-B378-9C492EB7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C88C5-313E-C546-9EB8-B07E6AC2C034}" type="datetime1"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A73DB-EFB4-9E73-D054-1DC50146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89122-90B5-ADBC-E6FC-47651577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1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6BC3-6E74-6A32-38B4-D86C457D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B78AA-A2E5-0C3E-1B71-F12A8FC8B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29340-02AA-499B-90C2-E4CB346D7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11A31-9FAB-A952-AA20-12826484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08FE-7025-DE42-A1BF-7B9C7BF89215}" type="datetime1"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2DE62-97DB-60C0-A555-C00E0A11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F4DB-7961-A0C1-52C9-6453C9F0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8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4D181-2D25-9790-5644-BD0305D5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AAD27-4431-5B70-FD24-E725B88C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90CA-6E12-76AC-7F29-FCAA5036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F492-D63A-0C4F-8DB3-66F8085A719C}" type="datetime1"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9A73-6763-8542-6D39-984071B5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A53EF-5BA5-F49C-94B9-11378ECB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9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D14A3-53C7-9946-B6EA-E9A4BEDCB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FAAEE-E1CB-F961-AFDD-0A014BA4D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2C3B-394F-1AFF-5EBF-6A11BADD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0F6D-7B2C-214E-B15F-6DE72D3AF51C}" type="datetime1"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6B88-E25F-8DB8-2BA0-2F875FEB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85169-1DFF-7109-4FFD-1096128A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2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1CB08-2DAE-15DF-74F4-09395A7F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6EA1A-B329-E645-6E09-04F1224F0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854D-5C93-7298-E096-21981B28B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FE232-81BF-9042-89AC-8C6FF562BB5A}" type="datetime1"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7F966-E8E5-F841-590D-B15251118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BA1D-C0D6-18F0-92BD-087A268E0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2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829815-809F-23E1-6F1D-6F6B5A78A1A4}"/>
              </a:ext>
            </a:extLst>
          </p:cNvPr>
          <p:cNvSpPr txBox="1"/>
          <p:nvPr/>
        </p:nvSpPr>
        <p:spPr>
          <a:xfrm>
            <a:off x="720873" y="826845"/>
            <a:ext cx="353545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Unit Testing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What is it and why we do it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Dummies</a:t>
            </a:r>
          </a:p>
          <a:p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Mocks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Spies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Stubs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Fakes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Coverage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E18C2F-C644-4956-D21A-2704CBEA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B7B84E-7487-F7A3-AD70-E72C022E5596}"/>
              </a:ext>
            </a:extLst>
          </p:cNvPr>
          <p:cNvGrpSpPr/>
          <p:nvPr/>
        </p:nvGrpSpPr>
        <p:grpSpPr>
          <a:xfrm>
            <a:off x="2733773" y="1960775"/>
            <a:ext cx="7111507" cy="2573518"/>
            <a:chOff x="2733773" y="1960775"/>
            <a:chExt cx="7111507" cy="257351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BFA75C-D101-3000-E61E-D23DA7C0B8D0}"/>
                </a:ext>
              </a:extLst>
            </p:cNvPr>
            <p:cNvSpPr txBox="1"/>
            <p:nvPr/>
          </p:nvSpPr>
          <p:spPr>
            <a:xfrm>
              <a:off x="3337088" y="3042836"/>
              <a:ext cx="6508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Test double</a:t>
              </a:r>
              <a:r>
                <a:rPr lang="en-US"/>
                <a:t>: any object that replaces a real component in a test</a:t>
              </a:r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51BADD6A-EABB-FAAE-ED99-02E056EB07A1}"/>
                </a:ext>
              </a:extLst>
            </p:cNvPr>
            <p:cNvSpPr/>
            <p:nvPr/>
          </p:nvSpPr>
          <p:spPr>
            <a:xfrm>
              <a:off x="2733773" y="1960775"/>
              <a:ext cx="603315" cy="257351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746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8F8E-D7A2-DB92-0B7E-3B4E05EB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B72E9A-0C2D-3D08-F037-300B4823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01D71-8944-750E-858D-55C59159468A}"/>
              </a:ext>
            </a:extLst>
          </p:cNvPr>
          <p:cNvSpPr txBox="1"/>
          <p:nvPr/>
        </p:nvSpPr>
        <p:spPr>
          <a:xfrm>
            <a:off x="575035" y="603315"/>
            <a:ext cx="2288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 is Unit Testing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534AB-F5B3-EDCD-0E33-932CB6C9988E}"/>
              </a:ext>
            </a:extLst>
          </p:cNvPr>
          <p:cNvSpPr txBox="1"/>
          <p:nvPr/>
        </p:nvSpPr>
        <p:spPr>
          <a:xfrm>
            <a:off x="575035" y="1282045"/>
            <a:ext cx="11011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Unit testing is a software development technique that focuses on testing individual components of a program,</a:t>
            </a:r>
            <a:br>
              <a:rPr lang="en-US"/>
            </a:br>
            <a:r>
              <a:rPr lang="en-US"/>
              <a:t>such as functions, methods, or classes, </a:t>
            </a:r>
            <a:r>
              <a:rPr lang="en-US" b="1">
                <a:solidFill>
                  <a:srgbClr val="FF0000"/>
                </a:solidFill>
              </a:rPr>
              <a:t>in isolation from the rest of the application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C109B-EDC7-FC9D-9FDC-674B66036F5C}"/>
              </a:ext>
            </a:extLst>
          </p:cNvPr>
          <p:cNvSpPr txBox="1"/>
          <p:nvPr/>
        </p:nvSpPr>
        <p:spPr>
          <a:xfrm>
            <a:off x="575035" y="2305415"/>
            <a:ext cx="9994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</a:t>
            </a:r>
            <a:r>
              <a:rPr lang="en-US" b="1">
                <a:solidFill>
                  <a:srgbClr val="0070C0"/>
                </a:solidFill>
              </a:rPr>
              <a:t>unit</a:t>
            </a:r>
            <a:r>
              <a:rPr lang="en-US"/>
              <a:t> is defined as the smallest testable part of an application, typically corresponding to a single</a:t>
            </a:r>
            <a:br>
              <a:rPr lang="en-US"/>
            </a:br>
            <a:r>
              <a:rPr lang="en-US"/>
              <a:t>behavior or requirement.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5EE38-5DA4-575C-C8F3-88BADB39DECB}"/>
              </a:ext>
            </a:extLst>
          </p:cNvPr>
          <p:cNvSpPr txBox="1"/>
          <p:nvPr/>
        </p:nvSpPr>
        <p:spPr>
          <a:xfrm>
            <a:off x="575035" y="3361386"/>
            <a:ext cx="79151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Key characteristics: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Isolation</a:t>
            </a:r>
            <a:r>
              <a:rPr lang="en-US"/>
              <a:t>: Testing components independently from external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70C0"/>
                </a:solidFill>
              </a:rPr>
              <a:t>Automation</a:t>
            </a:r>
            <a:r>
              <a:rPr lang="en-US"/>
              <a:t>: Tests run automatically without manual 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Repeatability</a:t>
            </a:r>
            <a:r>
              <a:rPr lang="en-US"/>
              <a:t>: Tests produce consistent results across multiple executions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Fast execution</a:t>
            </a:r>
            <a:r>
              <a:rPr lang="en-US"/>
              <a:t>: Unit tests should run in milliseconds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834E86-5C7C-972B-E86D-FDD47723983E}"/>
              </a:ext>
            </a:extLst>
          </p:cNvPr>
          <p:cNvGrpSpPr/>
          <p:nvPr/>
        </p:nvGrpSpPr>
        <p:grpSpPr>
          <a:xfrm>
            <a:off x="8644379" y="3836709"/>
            <a:ext cx="1452999" cy="1545996"/>
            <a:chOff x="8644379" y="3836709"/>
            <a:chExt cx="1452999" cy="1545996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03776F1-8891-42D5-2D6D-7AD0691756AE}"/>
                </a:ext>
              </a:extLst>
            </p:cNvPr>
            <p:cNvSpPr/>
            <p:nvPr/>
          </p:nvSpPr>
          <p:spPr>
            <a:xfrm>
              <a:off x="8644379" y="3836709"/>
              <a:ext cx="301658" cy="154599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FD7634-24A4-5438-C4F0-255B17C4F3A4}"/>
                </a:ext>
              </a:extLst>
            </p:cNvPr>
            <p:cNvSpPr txBox="1"/>
            <p:nvPr/>
          </p:nvSpPr>
          <p:spPr>
            <a:xfrm>
              <a:off x="8946037" y="4425041"/>
              <a:ext cx="1151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Required!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F568E3-3C2D-698E-850D-DF192DEAEFAF}"/>
              </a:ext>
            </a:extLst>
          </p:cNvPr>
          <p:cNvGrpSpPr/>
          <p:nvPr/>
        </p:nvGrpSpPr>
        <p:grpSpPr>
          <a:xfrm>
            <a:off x="6353666" y="5546831"/>
            <a:ext cx="2822321" cy="369332"/>
            <a:chOff x="6353666" y="5546831"/>
            <a:chExt cx="2822321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3EF0668-776C-C201-FBC9-BA02AD6AF6C9}"/>
                </a:ext>
              </a:extLst>
            </p:cNvPr>
            <p:cNvCxnSpPr/>
            <p:nvPr/>
          </p:nvCxnSpPr>
          <p:spPr>
            <a:xfrm>
              <a:off x="6353666" y="5731497"/>
              <a:ext cx="1234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1013E5-1AFE-65B1-DD61-DA2A92CA75C0}"/>
                </a:ext>
              </a:extLst>
            </p:cNvPr>
            <p:cNvSpPr txBox="1"/>
            <p:nvPr/>
          </p:nvSpPr>
          <p:spPr>
            <a:xfrm>
              <a:off x="7762267" y="5546831"/>
              <a:ext cx="1413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Nice to have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2AE8CF5-A6C1-2A42-9F42-CF1936331240}"/>
              </a:ext>
            </a:extLst>
          </p:cNvPr>
          <p:cNvSpPr txBox="1"/>
          <p:nvPr/>
        </p:nvSpPr>
        <p:spPr>
          <a:xfrm>
            <a:off x="10225527" y="3638384"/>
            <a:ext cx="17287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FIRST principle: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00B050"/>
                </a:solidFill>
              </a:rPr>
              <a:t>Fast</a:t>
            </a:r>
            <a:br>
              <a:rPr lang="en-US"/>
            </a:br>
            <a:r>
              <a:rPr lang="en-US" b="1"/>
              <a:t>Isolated</a:t>
            </a:r>
            <a:br>
              <a:rPr lang="en-US"/>
            </a:br>
            <a:r>
              <a:rPr lang="en-US" b="1">
                <a:solidFill>
                  <a:srgbClr val="FF0000"/>
                </a:solidFill>
              </a:rPr>
              <a:t>Repeatable</a:t>
            </a:r>
            <a:br>
              <a:rPr lang="en-US"/>
            </a:br>
            <a:r>
              <a:rPr lang="en-US" b="1">
                <a:solidFill>
                  <a:srgbClr val="0070C0"/>
                </a:solidFill>
              </a:rPr>
              <a:t>Self-checking</a:t>
            </a:r>
            <a:br>
              <a:rPr lang="en-US"/>
            </a:br>
            <a:r>
              <a:rPr lang="en-US" b="1">
                <a:solidFill>
                  <a:srgbClr val="FFC000"/>
                </a:solidFill>
              </a:rPr>
              <a:t>Timely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C0B66E-4109-D8FA-05D8-B60F58C04F6C}"/>
              </a:ext>
            </a:extLst>
          </p:cNvPr>
          <p:cNvCxnSpPr/>
          <p:nvPr/>
        </p:nvCxnSpPr>
        <p:spPr>
          <a:xfrm>
            <a:off x="10569118" y="5669709"/>
            <a:ext cx="0" cy="42000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F8422E-186E-6967-8569-F5BA36DB9616}"/>
              </a:ext>
            </a:extLst>
          </p:cNvPr>
          <p:cNvSpPr txBox="1"/>
          <p:nvPr/>
        </p:nvSpPr>
        <p:spPr>
          <a:xfrm>
            <a:off x="9407229" y="6125514"/>
            <a:ext cx="2323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C000"/>
                </a:solidFill>
              </a:rPr>
              <a:t>Write tests before or alongside</a:t>
            </a:r>
            <a:br>
              <a:rPr lang="en-US" sz="1200" b="1">
                <a:solidFill>
                  <a:srgbClr val="FFC000"/>
                </a:solidFill>
              </a:rPr>
            </a:br>
            <a:r>
              <a:rPr lang="en-US" sz="1200" b="1">
                <a:solidFill>
                  <a:srgbClr val="FFC000"/>
                </a:solidFill>
              </a:rPr>
              <a:t>the production code</a:t>
            </a:r>
          </a:p>
        </p:txBody>
      </p:sp>
    </p:spTree>
    <p:extLst>
      <p:ext uri="{BB962C8B-B14F-4D97-AF65-F5344CB8AC3E}">
        <p14:creationId xmlns:p14="http://schemas.microsoft.com/office/powerpoint/2010/main" val="48809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16E0-2A77-040A-7AA6-320B88BD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844FC0-489A-BEBE-6648-C1BD3D63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255A5-97E4-FA51-8F31-512DEA9F509D}"/>
              </a:ext>
            </a:extLst>
          </p:cNvPr>
          <p:cNvSpPr txBox="1"/>
          <p:nvPr/>
        </p:nvSpPr>
        <p:spPr>
          <a:xfrm>
            <a:off x="235670" y="202467"/>
            <a:ext cx="1982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Why Unit Testing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9E38C-A86A-7C3F-DFF7-938D87912CBA}"/>
              </a:ext>
            </a:extLst>
          </p:cNvPr>
          <p:cNvSpPr txBox="1"/>
          <p:nvPr/>
        </p:nvSpPr>
        <p:spPr>
          <a:xfrm>
            <a:off x="461913" y="732085"/>
            <a:ext cx="1108592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/>
              <a:t>Early Defect Detection</a:t>
            </a:r>
            <a:br>
              <a:rPr lang="en-US" sz="1600"/>
            </a:br>
            <a:r>
              <a:rPr lang="en-US" sz="1400"/>
              <a:t>Unit testing enables developers to catch defects early in the software development process, before code is integrated with other components.</a:t>
            </a:r>
            <a:br>
              <a:rPr lang="en-US" sz="1400"/>
            </a:br>
            <a:r>
              <a:rPr lang="en-US" sz="1400"/>
              <a:t>This significantly reduces debugging time and prevents defects from propagating to other parts of the system.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Improved Code Quality</a:t>
            </a:r>
            <a:br>
              <a:rPr lang="en-US" sz="1600"/>
            </a:br>
            <a:r>
              <a:rPr lang="en-US" sz="1400"/>
              <a:t>Writing unit tests forces developers to think through design and edge cases, leading to cleaner.</a:t>
            </a:r>
            <a:br>
              <a:rPr lang="en-US" sz="1400"/>
            </a:br>
            <a:r>
              <a:rPr lang="en-US" sz="1400"/>
              <a:t>Tests serve as executable specifications that document how code should behave.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Facilitates Refactoring</a:t>
            </a:r>
            <a:br>
              <a:rPr lang="en-US" sz="1600"/>
            </a:br>
            <a:r>
              <a:rPr lang="en-US" sz="1400"/>
              <a:t>Unit tests provide a safety net that allows developers to refactor code with confidence can be confident that existing functionality remains intact.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Faster Development Cycles</a:t>
            </a:r>
            <a:br>
              <a:rPr lang="en-US" sz="1600"/>
            </a:br>
            <a:r>
              <a:rPr lang="en-US" sz="1400"/>
              <a:t>By catching bugs early and reducing manual testing time, unit testing accelerates the overall development process can iterate quickly and release more frequently.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Better Documentation</a:t>
            </a:r>
            <a:br>
              <a:rPr lang="en-US" sz="1600"/>
            </a:br>
            <a:r>
              <a:rPr lang="en-US" sz="1400"/>
              <a:t>Unit tests serve as living documentation, providing concrete examples of how code should be used. New developers can understand functionality by examining test cases.</a:t>
            </a:r>
          </a:p>
          <a:p>
            <a:pPr marL="342900" indent="-342900">
              <a:buFont typeface="+mj-lt"/>
              <a:buAutoNum type="arabicPeriod"/>
            </a:pPr>
            <a:endParaRPr lang="en-US" sz="14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Reduced Costs</a:t>
            </a:r>
            <a:br>
              <a:rPr lang="en-US" sz="1400"/>
            </a:br>
            <a:r>
              <a:rPr lang="en-US" sz="1400"/>
              <a:t>Bugs found during unit testing are much cheaper to fix than bugs discovered later in integration, system testing, or production.</a:t>
            </a:r>
            <a:br>
              <a:rPr lang="en-US" sz="1400"/>
            </a:br>
            <a:r>
              <a:rPr lang="en-US" sz="1400"/>
              <a:t>The cost of fixing a bug increases exponentially as it moves through the development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333299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5A6D-765F-8CD8-697D-84558946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570E02-350D-315C-90DF-67A01CAD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F9DF-9F43-EF46-3D3A-1C36BA959614}"/>
              </a:ext>
            </a:extLst>
          </p:cNvPr>
          <p:cNvSpPr txBox="1"/>
          <p:nvPr/>
        </p:nvSpPr>
        <p:spPr>
          <a:xfrm>
            <a:off x="235670" y="202467"/>
            <a:ext cx="2307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Other types of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81185-52C5-8421-7F09-E262FD66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2" y="1345096"/>
            <a:ext cx="10411216" cy="41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2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DC947-34F3-6D62-56F4-2ED46682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548CF-F0A4-E0CD-6FF1-4AC3C6F4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2820-4AEE-B959-D0F2-7AE652A3D472}"/>
              </a:ext>
            </a:extLst>
          </p:cNvPr>
          <p:cNvSpPr txBox="1"/>
          <p:nvPr/>
        </p:nvSpPr>
        <p:spPr>
          <a:xfrm>
            <a:off x="235670" y="202467"/>
            <a:ext cx="2388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Anatomy of a Unit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33CB5-108F-4E7E-5584-0B0AAD968EFD}"/>
              </a:ext>
            </a:extLst>
          </p:cNvPr>
          <p:cNvSpPr txBox="1"/>
          <p:nvPr/>
        </p:nvSpPr>
        <p:spPr>
          <a:xfrm>
            <a:off x="452487" y="1644514"/>
            <a:ext cx="609468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Essential Components: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</a:rPr>
              <a:t>Test ID/Name</a:t>
            </a:r>
            <a:r>
              <a:rPr lang="en-US" sz="1600"/>
              <a:t>: Descriptive name indicating what is being tested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70C0"/>
                </a:solidFill>
              </a:rPr>
              <a:t>Setup (Arrange)</a:t>
            </a:r>
            <a:r>
              <a:rPr lang="en-US" sz="1600"/>
              <a:t>: Initialize objects and prepare test data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B050"/>
                </a:solidFill>
              </a:rPr>
              <a:t>Execution (Act)</a:t>
            </a:r>
            <a:r>
              <a:rPr lang="en-US" sz="1600"/>
              <a:t>: Execute the code under test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Verification(Assert)</a:t>
            </a:r>
            <a:r>
              <a:rPr lang="en-US" sz="1600"/>
              <a:t>: Check that results match expectations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Teardown</a:t>
            </a:r>
            <a:r>
              <a:rPr lang="en-US" sz="1600"/>
              <a:t>: Clean up resources (if needed)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FE63F-2DC5-40F5-45A2-B09312467066}"/>
              </a:ext>
            </a:extLst>
          </p:cNvPr>
          <p:cNvSpPr txBox="1"/>
          <p:nvPr/>
        </p:nvSpPr>
        <p:spPr>
          <a:xfrm>
            <a:off x="6936595" y="1598347"/>
            <a:ext cx="4802918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4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testAddition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Arrange</a:t>
            </a:r>
            <a:b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Calculator calculator = new Calculator();</a:t>
            </a:r>
            <a:b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 = 5;</a:t>
            </a:r>
            <a:b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b = 3;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</a:t>
            </a:r>
            <a:b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result = calculator.add(a, b);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Assert</a:t>
            </a:r>
            <a:b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assertEquals(8, result);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081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EFC1-D12F-E9AE-3E61-E52D0431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BDA08D-B85F-6F6E-4E92-C76CA1652348}"/>
              </a:ext>
            </a:extLst>
          </p:cNvPr>
          <p:cNvSpPr txBox="1"/>
          <p:nvPr/>
        </p:nvSpPr>
        <p:spPr>
          <a:xfrm>
            <a:off x="400362" y="361787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Dummies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0FBDD2-577F-45F1-B457-3996FDDB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68F6F-0186-4156-24E0-A9D3426D7F36}"/>
              </a:ext>
            </a:extLst>
          </p:cNvPr>
          <p:cNvSpPr txBox="1"/>
          <p:nvPr/>
        </p:nvSpPr>
        <p:spPr>
          <a:xfrm>
            <a:off x="645458" y="1179661"/>
            <a:ext cx="716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Dummy is passed just to satisfy a method or a constructor signature.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A4286-443A-EF2C-1B97-5DE87904DE1C}"/>
              </a:ext>
            </a:extLst>
          </p:cNvPr>
          <p:cNvSpPr txBox="1"/>
          <p:nvPr/>
        </p:nvSpPr>
        <p:spPr>
          <a:xfrm>
            <a:off x="649188" y="1756894"/>
            <a:ext cx="10647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It does nothing during the test</a:t>
            </a:r>
            <a:r>
              <a:rPr lang="en-US"/>
              <a:t>, it’s just passed when a reference is required somewhere but it’s irrelevant</a:t>
            </a:r>
            <a:br>
              <a:rPr lang="en-US"/>
            </a:br>
            <a:r>
              <a:rPr lang="en-US"/>
              <a:t>for the test. It must not influence the test in any way.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37142-DA54-30BF-D396-C82706D1D977}"/>
              </a:ext>
            </a:extLst>
          </p:cNvPr>
          <p:cNvSpPr txBox="1"/>
          <p:nvPr/>
        </p:nvSpPr>
        <p:spPr>
          <a:xfrm>
            <a:off x="645458" y="3429000"/>
            <a:ext cx="6730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It’s used when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want to avoid nulls or complex setup for unused parameters</a:t>
            </a:r>
          </a:p>
        </p:txBody>
      </p:sp>
    </p:spTree>
    <p:extLst>
      <p:ext uri="{BB962C8B-B14F-4D97-AF65-F5344CB8AC3E}">
        <p14:creationId xmlns:p14="http://schemas.microsoft.com/office/powerpoint/2010/main" val="384985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7225-26E6-30F1-EF96-D9C4FF80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EA4459-2E18-B66D-5BFB-84722980FF21}"/>
              </a:ext>
            </a:extLst>
          </p:cNvPr>
          <p:cNvSpPr txBox="1"/>
          <p:nvPr/>
        </p:nvSpPr>
        <p:spPr>
          <a:xfrm>
            <a:off x="324948" y="319114"/>
            <a:ext cx="2260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Dummies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BD8D8-5AC9-AF57-547C-95E3E555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E130B-3C1D-F19F-6AD4-6F492DFB5EA2}"/>
              </a:ext>
            </a:extLst>
          </p:cNvPr>
          <p:cNvSpPr txBox="1"/>
          <p:nvPr/>
        </p:nvSpPr>
        <p:spPr>
          <a:xfrm>
            <a:off x="738909" y="1283855"/>
            <a:ext cx="25699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public interface Logger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void info(String message);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void error(String message);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625CD-BB38-961A-4FE5-1DFF90177E5E}"/>
              </a:ext>
            </a:extLst>
          </p:cNvPr>
          <p:cNvSpPr txBox="1"/>
          <p:nvPr/>
        </p:nvSpPr>
        <p:spPr>
          <a:xfrm>
            <a:off x="738909" y="2382559"/>
            <a:ext cx="4955203" cy="2092881"/>
          </a:xfrm>
          <a:prstGeom prst="rect">
            <a:avLst/>
          </a:prstGeom>
          <a:solidFill>
            <a:srgbClr val="FFFF00">
              <a:alpha val="6095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public class PaymentService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Logger logger;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public PaymentService(Logger logger)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this.logger = logger;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public boolean charge(String userId, double amount)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// We're not testing this part, just need to compile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logger.info("Charging " + userId + " for $" + amount);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return amount &lt; 1000; // pretend high amounts fail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803A0-8A7A-6AAB-DC39-93F3401556F8}"/>
              </a:ext>
            </a:extLst>
          </p:cNvPr>
          <p:cNvSpPr txBox="1"/>
          <p:nvPr/>
        </p:nvSpPr>
        <p:spPr>
          <a:xfrm>
            <a:off x="6355688" y="1532797"/>
            <a:ext cx="4955203" cy="3323987"/>
          </a:xfrm>
          <a:prstGeom prst="rect">
            <a:avLst/>
          </a:prstGeom>
          <a:solidFill>
            <a:srgbClr val="92D050">
              <a:alpha val="12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import org.junit.jupiter.api.Test;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org.junit.jupiter.api.Assertions.*;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public class PaymentServiceTest {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// Dummy implementation that does nothing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class DummyLogger implements Logger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public void info(String message) { /* do nothing */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public void error(String message) { /* do nothing */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@Test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void shouldSucceedForSmallPayments()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Logger dummy = new DummyLogger();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PaymentService service = new PaymentService(dummy);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boolean result = service.charge("alice", 50.0);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assertTrue(result); // we don’t care about logging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F22F53-9C2A-0070-9137-BAB883B1BD5E}"/>
              </a:ext>
            </a:extLst>
          </p:cNvPr>
          <p:cNvCxnSpPr>
            <a:cxnSpLocks/>
          </p:cNvCxnSpPr>
          <p:nvPr/>
        </p:nvCxnSpPr>
        <p:spPr>
          <a:xfrm flipH="1">
            <a:off x="4396509" y="2126085"/>
            <a:ext cx="267049" cy="654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A279F9-1144-E484-8B7E-A4C4C95B16B8}"/>
              </a:ext>
            </a:extLst>
          </p:cNvPr>
          <p:cNvSpPr txBox="1"/>
          <p:nvPr/>
        </p:nvSpPr>
        <p:spPr>
          <a:xfrm>
            <a:off x="3970419" y="1853241"/>
            <a:ext cx="1386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System under 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2EF1F2-C569-01D2-1163-DBACBC93DEB5}"/>
              </a:ext>
            </a:extLst>
          </p:cNvPr>
          <p:cNvSpPr txBox="1"/>
          <p:nvPr/>
        </p:nvSpPr>
        <p:spPr>
          <a:xfrm>
            <a:off x="11426313" y="128385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Test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819F39-ADE3-DC9D-CC1B-F866FC93C8E7}"/>
              </a:ext>
            </a:extLst>
          </p:cNvPr>
          <p:cNvCxnSpPr>
            <a:stCxn id="14" idx="1"/>
          </p:cNvCxnSpPr>
          <p:nvPr/>
        </p:nvCxnSpPr>
        <p:spPr>
          <a:xfrm flipH="1">
            <a:off x="10705876" y="1414660"/>
            <a:ext cx="720437" cy="31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38112C-9EE9-2A16-D1CF-CB073EA934FF}"/>
              </a:ext>
            </a:extLst>
          </p:cNvPr>
          <p:cNvSpPr txBox="1"/>
          <p:nvPr/>
        </p:nvSpPr>
        <p:spPr>
          <a:xfrm>
            <a:off x="11310891" y="3461572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Dummy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832B49-4141-9290-2B43-632164BF773B}"/>
              </a:ext>
            </a:extLst>
          </p:cNvPr>
          <p:cNvCxnSpPr>
            <a:stCxn id="16" idx="1"/>
          </p:cNvCxnSpPr>
          <p:nvPr/>
        </p:nvCxnSpPr>
        <p:spPr>
          <a:xfrm flipH="1">
            <a:off x="10590454" y="3592377"/>
            <a:ext cx="720437" cy="31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0D44DB-10C7-A0D8-91AA-A47410D8C762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0239440" y="3010487"/>
            <a:ext cx="1071451" cy="581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90E3FA1-1E29-F390-84F6-479173D89ED8}"/>
              </a:ext>
            </a:extLst>
          </p:cNvPr>
          <p:cNvSpPr txBox="1"/>
          <p:nvPr/>
        </p:nvSpPr>
        <p:spPr>
          <a:xfrm>
            <a:off x="738909" y="5153891"/>
            <a:ext cx="39661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Technically a mock</a:t>
            </a:r>
            <a:br>
              <a:rPr lang="en-US" sz="1000"/>
            </a:br>
            <a:br>
              <a:rPr lang="en-US" sz="1000"/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Logger dummy = mock(Logger.class);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can work as well, </a:t>
            </a:r>
            <a:r>
              <a:rPr lang="en-US" sz="1000" b="1">
                <a:solidFill>
                  <a:srgbClr val="FF0000"/>
                </a:solidFill>
              </a:rPr>
              <a:t>but avoid using it if you don’t need to verify calls.</a:t>
            </a:r>
            <a:br>
              <a:rPr lang="en-US" sz="1000" b="1">
                <a:solidFill>
                  <a:srgbClr val="FF0000"/>
                </a:solidFill>
              </a:rPr>
            </a:br>
            <a:r>
              <a:rPr lang="en-US" sz="1000" b="1">
                <a:solidFill>
                  <a:srgbClr val="FF0000"/>
                </a:solidFill>
              </a:rPr>
              <a:t>Let’s keep the noise at minimum.</a:t>
            </a:r>
          </a:p>
        </p:txBody>
      </p:sp>
    </p:spTree>
    <p:extLst>
      <p:ext uri="{BB962C8B-B14F-4D97-AF65-F5344CB8AC3E}">
        <p14:creationId xmlns:p14="http://schemas.microsoft.com/office/powerpoint/2010/main" val="1067158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7BBB6-265D-B74C-2DD4-06114B54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5429C4-98C7-4157-95A2-E9CA4B28D75D}"/>
              </a:ext>
            </a:extLst>
          </p:cNvPr>
          <p:cNvSpPr txBox="1"/>
          <p:nvPr/>
        </p:nvSpPr>
        <p:spPr>
          <a:xfrm>
            <a:off x="315521" y="306872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Mocks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86802D-3809-D3DA-F24D-F6FC98AE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2E9DE-88B8-2C6B-3D12-6A57F60674E2}"/>
              </a:ext>
            </a:extLst>
          </p:cNvPr>
          <p:cNvSpPr txBox="1"/>
          <p:nvPr/>
        </p:nvSpPr>
        <p:spPr>
          <a:xfrm>
            <a:off x="645458" y="1179661"/>
            <a:ext cx="958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Mock simulates a real object’s behavior, so we need it to verify behavior, not just return values.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C1D73-995E-5CC7-54B8-00B12EBE11BD}"/>
              </a:ext>
            </a:extLst>
          </p:cNvPr>
          <p:cNvSpPr txBox="1"/>
          <p:nvPr/>
        </p:nvSpPr>
        <p:spPr>
          <a:xfrm>
            <a:off x="649188" y="1756894"/>
            <a:ext cx="8648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It records the interactions made with it</a:t>
            </a:r>
            <a:r>
              <a:rPr lang="en-US"/>
              <a:t>, and fails if expected interations don’t occur.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45853-24B0-4302-AF99-7DE5E9118F2F}"/>
              </a:ext>
            </a:extLst>
          </p:cNvPr>
          <p:cNvSpPr txBox="1"/>
          <p:nvPr/>
        </p:nvSpPr>
        <p:spPr>
          <a:xfrm>
            <a:off x="645458" y="2334127"/>
            <a:ext cx="513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must be supported by your language framework.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8614E-B9F4-DC3B-7941-C7C5EA92E998}"/>
              </a:ext>
            </a:extLst>
          </p:cNvPr>
          <p:cNvSpPr txBox="1"/>
          <p:nvPr/>
        </p:nvSpPr>
        <p:spPr>
          <a:xfrm>
            <a:off x="645458" y="3429000"/>
            <a:ext cx="75763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It’s used when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want to verify that something was called, and with which parameters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want to enforce expected interactions</a:t>
            </a:r>
          </a:p>
        </p:txBody>
      </p:sp>
    </p:spTree>
    <p:extLst>
      <p:ext uri="{BB962C8B-B14F-4D97-AF65-F5344CB8AC3E}">
        <p14:creationId xmlns:p14="http://schemas.microsoft.com/office/powerpoint/2010/main" val="427518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FDAA-5C4A-CF76-2ECB-62468546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A5F19-2EB2-54B9-8EA7-8514412076B8}"/>
              </a:ext>
            </a:extLst>
          </p:cNvPr>
          <p:cNvSpPr txBox="1"/>
          <p:nvPr/>
        </p:nvSpPr>
        <p:spPr>
          <a:xfrm>
            <a:off x="306094" y="277632"/>
            <a:ext cx="1943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Mocks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F1DEC5-713B-B301-F0C8-F4B3420B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C35CA-8D05-658A-6211-DBCC9E7D0839}"/>
              </a:ext>
            </a:extLst>
          </p:cNvPr>
          <p:cNvSpPr txBox="1"/>
          <p:nvPr/>
        </p:nvSpPr>
        <p:spPr>
          <a:xfrm>
            <a:off x="645459" y="1163782"/>
            <a:ext cx="3010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send(String to, String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FFF9A-2747-DA5B-FA4F-56926BFF308E}"/>
              </a:ext>
            </a:extLst>
          </p:cNvPr>
          <p:cNvSpPr txBox="1"/>
          <p:nvPr/>
        </p:nvSpPr>
        <p:spPr>
          <a:xfrm>
            <a:off x="645459" y="1863635"/>
            <a:ext cx="349326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String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double amount;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this.userId =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this.amount = amount;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BBC07-92FE-23F2-1B58-405A85405B27}"/>
              </a:ext>
            </a:extLst>
          </p:cNvPr>
          <p:cNvSpPr txBox="1"/>
          <p:nvPr/>
        </p:nvSpPr>
        <p:spPr>
          <a:xfrm>
            <a:off x="645459" y="3521364"/>
            <a:ext cx="4389343" cy="1754326"/>
          </a:xfrm>
          <a:prstGeom prst="rect">
            <a:avLst/>
          </a:prstGeom>
          <a:solidFill>
            <a:srgbClr val="FFFF00">
              <a:alpha val="6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OrderService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EmailSender emailSender;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OrderService(EmailSender emailSender)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this.emailSender = emailSender;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void placeOrder(String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Imagine this saves the order...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emailSender.send(userId, "Order placed: $" + 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19F6A-1A71-3BD7-23C7-9975B31FDE5F}"/>
              </a:ext>
            </a:extLst>
          </p:cNvPr>
          <p:cNvSpPr txBox="1"/>
          <p:nvPr/>
        </p:nvSpPr>
        <p:spPr>
          <a:xfrm>
            <a:off x="5327211" y="505154"/>
            <a:ext cx="6417141" cy="3016210"/>
          </a:xfrm>
          <a:prstGeom prst="rect">
            <a:avLst/>
          </a:prstGeom>
          <a:solidFill>
            <a:srgbClr val="00B050">
              <a:alpha val="5979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import org.junit.jupiter.api.Test;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org.mockito.Mockito.*;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OrderServiceTest {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@Test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void shouldSendConfirmationEmailWhenOrderIsPlaced()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// Arrange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EmailSender mockEmailSender = mock(EmailSender.class); // Create the mock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OrderService service = new OrderService(mockEmailSender);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// Act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service.placeOrder("bob@example.com", 99.0);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// Assert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verify(mockEmailSender).send("bob@example.com", "Order placed: $99.0");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08C1E-5579-DAEC-57EA-EF3AC17CB0CE}"/>
              </a:ext>
            </a:extLst>
          </p:cNvPr>
          <p:cNvSpPr txBox="1"/>
          <p:nvPr/>
        </p:nvSpPr>
        <p:spPr>
          <a:xfrm>
            <a:off x="5818908" y="4123249"/>
            <a:ext cx="5570756" cy="1631216"/>
          </a:xfrm>
          <a:prstGeom prst="rect">
            <a:avLst/>
          </a:prstGeom>
          <a:solidFill>
            <a:schemeClr val="bg1">
              <a:lumMod val="85000"/>
              <a:alpha val="26893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// Check that it was called only once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verify(mockEmailSender, times(1)).send(...);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// Check it was never called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verify(mockEmailSender, never()).send(anyString(), anyString());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// Capture arguments (advanced)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ArgumentCaptor&lt;String&gt; captor = ArgumentCaptor.forClass(String.class);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verify(mockEmailSender).send(captor.capture(), anyString());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assertEquals("bob@example.com", captor.getValue());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EEF03-B0C3-F21E-AC50-CD8308D760A5}"/>
              </a:ext>
            </a:extLst>
          </p:cNvPr>
          <p:cNvSpPr txBox="1"/>
          <p:nvPr/>
        </p:nvSpPr>
        <p:spPr>
          <a:xfrm>
            <a:off x="442259" y="5677520"/>
            <a:ext cx="4716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0000"/>
                </a:solidFill>
              </a:rPr>
              <a:t>Use mocks only for dependencies =&gt; do not mock your own logic!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E261EB-AD86-E2D3-0507-872AFA4758A8}"/>
              </a:ext>
            </a:extLst>
          </p:cNvPr>
          <p:cNvCxnSpPr/>
          <p:nvPr/>
        </p:nvCxnSpPr>
        <p:spPr>
          <a:xfrm>
            <a:off x="3962400" y="3229988"/>
            <a:ext cx="332509" cy="591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023DC1-87B9-4680-7E5D-DA1BDEB58FDD}"/>
              </a:ext>
            </a:extLst>
          </p:cNvPr>
          <p:cNvSpPr txBox="1"/>
          <p:nvPr/>
        </p:nvSpPr>
        <p:spPr>
          <a:xfrm>
            <a:off x="3269261" y="2957144"/>
            <a:ext cx="1386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System under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5CF9AF-93FF-8148-2C98-6053438DE891}"/>
              </a:ext>
            </a:extLst>
          </p:cNvPr>
          <p:cNvSpPr txBox="1"/>
          <p:nvPr/>
        </p:nvSpPr>
        <p:spPr>
          <a:xfrm>
            <a:off x="11524580" y="15714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Test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504970-ABDE-0372-B6F1-0CB2C74F7232}"/>
              </a:ext>
            </a:extLst>
          </p:cNvPr>
          <p:cNvCxnSpPr>
            <a:stCxn id="16" idx="1"/>
          </p:cNvCxnSpPr>
          <p:nvPr/>
        </p:nvCxnSpPr>
        <p:spPr>
          <a:xfrm flipH="1">
            <a:off x="10804143" y="287946"/>
            <a:ext cx="720437" cy="31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A7BDFBA-327A-D548-E04D-D9E42294ED86}"/>
              </a:ext>
            </a:extLst>
          </p:cNvPr>
          <p:cNvSpPr txBox="1"/>
          <p:nvPr/>
        </p:nvSpPr>
        <p:spPr>
          <a:xfrm>
            <a:off x="4585662" y="1582310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Mock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E953F6-0BE1-09F3-977E-EB71F3F5BB5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103753" y="1713115"/>
            <a:ext cx="824264" cy="13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86B5E6-75BD-AD95-7146-0D6DD603DF5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103753" y="1713115"/>
            <a:ext cx="824264" cy="1382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771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8EC5-F974-5448-E634-0B607D3C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2D94B-F392-84A9-EBF3-7896C9202C70}"/>
              </a:ext>
            </a:extLst>
          </p:cNvPr>
          <p:cNvSpPr txBox="1"/>
          <p:nvPr/>
        </p:nvSpPr>
        <p:spPr>
          <a:xfrm>
            <a:off x="316933" y="27697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Stubs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095096-1DF9-36D4-6707-9128AC87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6A311-C69D-7C7D-203C-4D4ED40911E1}"/>
              </a:ext>
            </a:extLst>
          </p:cNvPr>
          <p:cNvSpPr txBox="1"/>
          <p:nvPr/>
        </p:nvSpPr>
        <p:spPr>
          <a:xfrm>
            <a:off x="645458" y="1179661"/>
            <a:ext cx="500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Stub returns predefined values to method calls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19AC3-5559-58BA-976B-AE4C8120D4AD}"/>
              </a:ext>
            </a:extLst>
          </p:cNvPr>
          <p:cNvSpPr txBox="1"/>
          <p:nvPr/>
        </p:nvSpPr>
        <p:spPr>
          <a:xfrm>
            <a:off x="649188" y="1756894"/>
            <a:ext cx="7021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helps isolate the unit under test from unpredictable dependencies.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51DFE-B1BA-C50C-E908-F307B796792D}"/>
              </a:ext>
            </a:extLst>
          </p:cNvPr>
          <p:cNvSpPr txBox="1"/>
          <p:nvPr/>
        </p:nvSpPr>
        <p:spPr>
          <a:xfrm>
            <a:off x="652350" y="2913341"/>
            <a:ext cx="11312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can be supported by your language framework, but it allows also a manual implementation, or be implemented</a:t>
            </a:r>
            <a:br>
              <a:rPr lang="en-US"/>
            </a:br>
            <a:r>
              <a:rPr lang="en-US"/>
              <a:t>via a mock that just returns a value.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70877-E183-5470-7FCE-7999AFD77A2B}"/>
              </a:ext>
            </a:extLst>
          </p:cNvPr>
          <p:cNvSpPr txBox="1"/>
          <p:nvPr/>
        </p:nvSpPr>
        <p:spPr>
          <a:xfrm>
            <a:off x="579959" y="3884006"/>
            <a:ext cx="105020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It’s used when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want to simulate fixed response from services (network, DB, ...) =&gt; makes test faster, deterministic</a:t>
            </a:r>
            <a:br>
              <a:rPr lang="en-US"/>
            </a:br>
            <a:r>
              <a:rPr lang="en-US"/>
              <a:t>and repeatable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want to bypass external systems or complex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B09BD-406E-21DF-E36A-EAC4565F9813}"/>
              </a:ext>
            </a:extLst>
          </p:cNvPr>
          <p:cNvSpPr txBox="1"/>
          <p:nvPr/>
        </p:nvSpPr>
        <p:spPr>
          <a:xfrm>
            <a:off x="645458" y="2336108"/>
            <a:ext cx="6149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has no logic, just fixed behavior, does not record any usage.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682CA-C792-70BC-3152-4337086E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37" y="588285"/>
            <a:ext cx="4072430" cy="179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66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061A-0E03-8B14-B6DF-2B702F6E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D5C8CD-ECD9-F477-B3EF-8BA93113CFF4}"/>
              </a:ext>
            </a:extLst>
          </p:cNvPr>
          <p:cNvSpPr txBox="1"/>
          <p:nvPr/>
        </p:nvSpPr>
        <p:spPr>
          <a:xfrm>
            <a:off x="353228" y="315767"/>
            <a:ext cx="186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Stubs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3DEF8B-685A-73C5-2BA4-DDACE457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974CD-A946-2C5F-C325-98ED4DEEC45F}"/>
              </a:ext>
            </a:extLst>
          </p:cNvPr>
          <p:cNvSpPr txBox="1"/>
          <p:nvPr/>
        </p:nvSpPr>
        <p:spPr>
          <a:xfrm>
            <a:off x="645459" y="1173018"/>
            <a:ext cx="356219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PaymentGateway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boolean charge(String userId, double 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9C4D6-2CB6-70E0-ED25-E1AFC7873C9C}"/>
              </a:ext>
            </a:extLst>
          </p:cNvPr>
          <p:cNvSpPr txBox="1"/>
          <p:nvPr/>
        </p:nvSpPr>
        <p:spPr>
          <a:xfrm>
            <a:off x="645459" y="1882107"/>
            <a:ext cx="3010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send(String to, String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4130E-36F1-5AA1-AB1D-A755F9517CA3}"/>
              </a:ext>
            </a:extLst>
          </p:cNvPr>
          <p:cNvSpPr txBox="1"/>
          <p:nvPr/>
        </p:nvSpPr>
        <p:spPr>
          <a:xfrm>
            <a:off x="645459" y="2656688"/>
            <a:ext cx="4940776" cy="2723823"/>
          </a:xfrm>
          <a:prstGeom prst="rect">
            <a:avLst/>
          </a:prstGeom>
          <a:solidFill>
            <a:srgbClr val="FFFF00">
              <a:alpha val="5544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CheckoutService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PaymentGateway paymentGateway;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EmailSender emailSender;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CheckoutService(PaymentGateway paymentGateway,</a:t>
            </a:r>
            <a:b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	EmailSender emailSender)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this.paymentGateway = paymentGateway;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this.emailSender = emailSender;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boolean checkout(String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boolean success = paymentGateway.charge(userId, 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if (success)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  emailSender.send(userId, "Payment received: $" + 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return success;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64787F-9486-D443-47A8-A519B89888BB}"/>
              </a:ext>
            </a:extLst>
          </p:cNvPr>
          <p:cNvSpPr txBox="1"/>
          <p:nvPr/>
        </p:nvSpPr>
        <p:spPr>
          <a:xfrm>
            <a:off x="5985163" y="207763"/>
            <a:ext cx="6043642" cy="6047809"/>
          </a:xfrm>
          <a:prstGeom prst="rect">
            <a:avLst/>
          </a:prstGeom>
          <a:solidFill>
            <a:srgbClr val="00B050">
              <a:alpha val="7159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org.junit.jupiter.api.Test;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org.mockito.Mockito.*;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org.junit.jupiter.api.Assertions.*;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CheckoutServiceTest {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@Test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shouldSendEmailIfPaymentSucceeds()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Arrange: Stub payment to succeed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PaymentGateway stubGateway = mock(PaymentGateway.class);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when(stubGateway.charge(anyString(), anyDouble())).thenReturn(true);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EmailSender mockEmailSender = mock(EmailSender.class); // not the test focus!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CheckoutService service = new CheckoutService(stubGateway, mockEmailSender);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Act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boolean result = service.checkout("alice@example.com", 50.0);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Assert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assertTrue(result);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verify(mockEmailSender).send("alice@example.com", "Payment received: $50.0");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@Test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shouldNotSendEmailIfPaymentFails()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Arrange: Stub payment to fail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PaymentGateway stubGateway = mock(PaymentGateway.class);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when(stubGateway.charge(anyString(), anyDouble())).thenReturn(false);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EmailSender mockEmailSender = mock(EmailSender.class); // not the focus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CheckoutService service = new CheckoutService(stubGateway, mockEmailSender);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Act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boolean result = service.checkout("bob@example.com", 75.0);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Assert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assertFalse(result);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verify(mockEmailSender, never()).send(anyString(), anyString());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8BBB15-54F6-7EF0-1F23-4CFB8D705757}"/>
              </a:ext>
            </a:extLst>
          </p:cNvPr>
          <p:cNvSpPr txBox="1"/>
          <p:nvPr/>
        </p:nvSpPr>
        <p:spPr>
          <a:xfrm>
            <a:off x="645459" y="5855855"/>
            <a:ext cx="45977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rgbClr val="FF0000"/>
                </a:solidFill>
              </a:rPr>
              <a:t>Don’t misuse stubs, if you need to check if a method has been called,</a:t>
            </a:r>
          </a:p>
          <a:p>
            <a:r>
              <a:rPr lang="en-US" sz="1100" b="1">
                <a:solidFill>
                  <a:srgbClr val="FF0000"/>
                </a:solidFill>
              </a:rPr>
              <a:t>use mocks or spies.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319F0F-DBFE-2CD5-C0C0-D7FAE4F29292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461164" y="2433192"/>
            <a:ext cx="545636" cy="59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DBF92FA-EDBA-9173-131F-8B2DA25C5A5C}"/>
              </a:ext>
            </a:extLst>
          </p:cNvPr>
          <p:cNvSpPr txBox="1"/>
          <p:nvPr/>
        </p:nvSpPr>
        <p:spPr>
          <a:xfrm>
            <a:off x="4313661" y="2156193"/>
            <a:ext cx="1386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System under test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C2B1A8-4E42-A1AB-9087-63A7EB321D81}"/>
              </a:ext>
            </a:extLst>
          </p:cNvPr>
          <p:cNvSpPr txBox="1"/>
          <p:nvPr/>
        </p:nvSpPr>
        <p:spPr>
          <a:xfrm>
            <a:off x="11261569" y="6388627"/>
            <a:ext cx="439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Test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CF2965-727C-C960-80C5-F127EB84B217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11160158" y="5643418"/>
            <a:ext cx="321183" cy="745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B96BB7A-940F-DA20-4908-3C2706F25678}"/>
              </a:ext>
            </a:extLst>
          </p:cNvPr>
          <p:cNvSpPr txBox="1"/>
          <p:nvPr/>
        </p:nvSpPr>
        <p:spPr>
          <a:xfrm>
            <a:off x="5107709" y="1406141"/>
            <a:ext cx="5048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Stub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144BA3-93D3-05F1-F6C1-B192C7B3EB9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612527" y="1536946"/>
            <a:ext cx="924069" cy="6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3D873B4-77EE-D8B0-D127-39143593C93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612527" y="1536946"/>
            <a:ext cx="924069" cy="138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D677F5-9AD4-B7BA-6D1A-BE72D454A389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612527" y="1536946"/>
            <a:ext cx="978363" cy="1492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638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C36FF-EB50-B864-7FCE-51C0D883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081207-08FC-0158-FACE-72C0A302BC2C}"/>
              </a:ext>
            </a:extLst>
          </p:cNvPr>
          <p:cNvSpPr txBox="1"/>
          <p:nvPr/>
        </p:nvSpPr>
        <p:spPr>
          <a:xfrm>
            <a:off x="255768" y="274748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8A440A-0A3E-D029-75DA-ACDE60F2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851F0-3E1F-C29A-5CF1-BCC445CC2BCC}"/>
              </a:ext>
            </a:extLst>
          </p:cNvPr>
          <p:cNvSpPr txBox="1"/>
          <p:nvPr/>
        </p:nvSpPr>
        <p:spPr>
          <a:xfrm>
            <a:off x="645459" y="1669855"/>
            <a:ext cx="3469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Spy wraps around a real object.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1712D-1D53-F3B5-4815-0FB6E8713DAC}"/>
              </a:ext>
            </a:extLst>
          </p:cNvPr>
          <p:cNvSpPr txBox="1"/>
          <p:nvPr/>
        </p:nvSpPr>
        <p:spPr>
          <a:xfrm>
            <a:off x="649189" y="2247088"/>
            <a:ext cx="9116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records the interactions made with it: method calls, parameters, number of invocations.</a:t>
            </a:r>
          </a:p>
          <a:p>
            <a:r>
              <a:rPr lang="en-US"/>
              <a:t>	=&gt; looks like Mock, but it’s used to verify interactions with a real 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E2C55-052D-36F4-F46D-FEB3D8197EC5}"/>
              </a:ext>
            </a:extLst>
          </p:cNvPr>
          <p:cNvSpPr txBox="1"/>
          <p:nvPr/>
        </p:nvSpPr>
        <p:spPr>
          <a:xfrm>
            <a:off x="645459" y="3101320"/>
            <a:ext cx="513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must be supported by your language framework.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11FFA-4259-4D8E-51C7-C0E10A7D3D64}"/>
              </a:ext>
            </a:extLst>
          </p:cNvPr>
          <p:cNvSpPr txBox="1"/>
          <p:nvPr/>
        </p:nvSpPr>
        <p:spPr>
          <a:xfrm>
            <a:off x="645459" y="3919194"/>
            <a:ext cx="94628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It’s used when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want to observe real behavior AND verify interactions (mocks just check the second one)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are working with stateful dependencies, potentially hard to mock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1336B-8149-D716-70F1-C02EB824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99" y="148476"/>
            <a:ext cx="5059188" cy="19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3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AE3E-520F-0169-5DEC-AC2C5E06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0B64F5-303B-34C5-5165-3D47DB1D1117}"/>
              </a:ext>
            </a:extLst>
          </p:cNvPr>
          <p:cNvSpPr txBox="1"/>
          <p:nvPr/>
        </p:nvSpPr>
        <p:spPr>
          <a:xfrm>
            <a:off x="311618" y="303233"/>
            <a:ext cx="18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Spies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9D9DFA-045D-2306-31ED-FF473A0C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A5F68-68A1-05B6-6AF9-A57AE04C30A6}"/>
              </a:ext>
            </a:extLst>
          </p:cNvPr>
          <p:cNvSpPr txBox="1"/>
          <p:nvPr/>
        </p:nvSpPr>
        <p:spPr>
          <a:xfrm>
            <a:off x="645459" y="1219199"/>
            <a:ext cx="3010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send(String to, String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181FC-BCFC-E21D-A422-E2DBC425350A}"/>
              </a:ext>
            </a:extLst>
          </p:cNvPr>
          <p:cNvSpPr txBox="1"/>
          <p:nvPr/>
        </p:nvSpPr>
        <p:spPr>
          <a:xfrm>
            <a:off x="645459" y="1865530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RealEmailSender implements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List&lt;String&gt; sentEmails = new ArrayList&lt;&gt;();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void send(String to, String message)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sentEmails.add(to + " =&gt; " +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Imagine this sends a real email...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List&lt;String&gt; getSentEmails()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ArrayList&lt;&gt;(sentEmails);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88A3A1-9CF1-D55F-6221-8633C854531F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4038600" y="2706255"/>
            <a:ext cx="634166" cy="421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341CCF-F773-9E85-ADEC-EAB2452DFF7B}"/>
              </a:ext>
            </a:extLst>
          </p:cNvPr>
          <p:cNvSpPr txBox="1"/>
          <p:nvPr/>
        </p:nvSpPr>
        <p:spPr>
          <a:xfrm>
            <a:off x="3769313" y="3127291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This is a real implementation,</a:t>
            </a:r>
            <a:br>
              <a:rPr lang="en-US" sz="1000"/>
            </a:br>
            <a:r>
              <a:rPr lang="en-US" sz="1000"/>
              <a:t>not a fake one!!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3B885-31DB-5C9D-1A86-078D08EFD7AC}"/>
              </a:ext>
            </a:extLst>
          </p:cNvPr>
          <p:cNvSpPr txBox="1"/>
          <p:nvPr/>
        </p:nvSpPr>
        <p:spPr>
          <a:xfrm>
            <a:off x="645459" y="4011496"/>
            <a:ext cx="5698996" cy="1754326"/>
          </a:xfrm>
          <a:prstGeom prst="rect">
            <a:avLst/>
          </a:prstGeom>
          <a:solidFill>
            <a:srgbClr val="FFFF00">
              <a:alpha val="4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OrderService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EmailSender emailSender;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OrderService(EmailSender emailSender)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this.emailSender = emailSender;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void placeOrder(String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emailSender.send(userId, "Your order for $" + amount + " is confirmed");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7B6BBE-DCAA-780A-A681-AC15CF651B68}"/>
              </a:ext>
            </a:extLst>
          </p:cNvPr>
          <p:cNvSpPr txBox="1"/>
          <p:nvPr/>
        </p:nvSpPr>
        <p:spPr>
          <a:xfrm>
            <a:off x="5878609" y="357187"/>
            <a:ext cx="6181500" cy="3693319"/>
          </a:xfrm>
          <a:prstGeom prst="rect">
            <a:avLst/>
          </a:prstGeom>
          <a:solidFill>
            <a:srgbClr val="00B050">
              <a:alpha val="9152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org.junit.jupiter.api.Test;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org.mockito.Mockito.*;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org.junit.jupiter.api.Assertions.*;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OrderServiceTest {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@Test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shouldSendEmail_usingRealSenderSpy()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Arrange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RealEmailSender realSender = new RealEmailSender();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EmailSender spySender = spy(realSender); // &lt;-- Spy wraps real object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OrderService service = new OrderService(spySender);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Act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service.placeOrder("bob@example.com", 88.0);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Assert: verify the method was called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verify(spySender).send("bob@example.com", "Your order for $88.0 is confirmed");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Assert: check the real method executed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assertEquals(1, realSender.getSentEmails().size());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assertTrue(realSender.getSentEmails().get(0).contains("bob@example.com"));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23B5-95AC-0314-B258-E613A0E97C6A}"/>
              </a:ext>
            </a:extLst>
          </p:cNvPr>
          <p:cNvSpPr txBox="1"/>
          <p:nvPr/>
        </p:nvSpPr>
        <p:spPr>
          <a:xfrm>
            <a:off x="10132291" y="2040346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rgbClr val="FF0000"/>
                </a:solidFill>
              </a:rPr>
              <a:t>This is not a mock:</a:t>
            </a:r>
          </a:p>
          <a:p>
            <a:r>
              <a:rPr lang="en-US" sz="900">
                <a:solidFill>
                  <a:srgbClr val="FF0000"/>
                </a:solidFill>
              </a:rPr>
              <a:t>we’re sending email for real!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6195A6-B502-4034-C49F-7D22ACFB41FA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568873" y="2409678"/>
            <a:ext cx="1357065" cy="114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8BDBC7-4C5A-B234-2EDE-261AFB42096D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5878609" y="4534601"/>
            <a:ext cx="687228" cy="205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04081C9-3C23-EA19-D0AF-3CA6C773457E}"/>
              </a:ext>
            </a:extLst>
          </p:cNvPr>
          <p:cNvSpPr txBox="1"/>
          <p:nvPr/>
        </p:nvSpPr>
        <p:spPr>
          <a:xfrm>
            <a:off x="6565837" y="4396101"/>
            <a:ext cx="1386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System under test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A9D10A-B3FE-E080-BFB9-3093175A6682}"/>
              </a:ext>
            </a:extLst>
          </p:cNvPr>
          <p:cNvSpPr txBox="1"/>
          <p:nvPr/>
        </p:nvSpPr>
        <p:spPr>
          <a:xfrm>
            <a:off x="11280041" y="4739976"/>
            <a:ext cx="439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Test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8BB093-1A4E-BAE4-7176-019776DE25D9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11058659" y="3810013"/>
            <a:ext cx="441154" cy="929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2DA748F-CDE1-7F32-1871-22E9D41BCDC5}"/>
              </a:ext>
            </a:extLst>
          </p:cNvPr>
          <p:cNvSpPr txBox="1"/>
          <p:nvPr/>
        </p:nvSpPr>
        <p:spPr>
          <a:xfrm>
            <a:off x="5172364" y="1667849"/>
            <a:ext cx="403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Spy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8C480A-D285-67ED-F32B-79A2668A7BD8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5576218" y="1798654"/>
            <a:ext cx="852291" cy="66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16A17C-6E76-36E9-A3B6-C1499DDD846B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5576218" y="1798654"/>
            <a:ext cx="949009" cy="1119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86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9D30-6BD7-906A-5A55-E7DEB387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FB3B7-4C1D-F702-CECC-23D6A1902A20}"/>
              </a:ext>
            </a:extLst>
          </p:cNvPr>
          <p:cNvSpPr txBox="1"/>
          <p:nvPr/>
        </p:nvSpPr>
        <p:spPr>
          <a:xfrm>
            <a:off x="306094" y="302498"/>
            <a:ext cx="814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Fakes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1082C0-E2B0-CC08-82EF-CB494BC0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10638-4A13-045B-33C6-4449F610C5F5}"/>
              </a:ext>
            </a:extLst>
          </p:cNvPr>
          <p:cNvSpPr txBox="1"/>
          <p:nvPr/>
        </p:nvSpPr>
        <p:spPr>
          <a:xfrm>
            <a:off x="645458" y="1179661"/>
            <a:ext cx="5197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Fake is working implementation of a dependency.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36063-83CB-3055-2588-9B21BE5CE891}"/>
              </a:ext>
            </a:extLst>
          </p:cNvPr>
          <p:cNvSpPr txBox="1"/>
          <p:nvPr/>
        </p:nvSpPr>
        <p:spPr>
          <a:xfrm>
            <a:off x="649188" y="1756894"/>
            <a:ext cx="10893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 such, it’s a test implementation of an interface, intended to be faster and/or safer and/or easier to control.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C00A1-D3D6-8BD2-CD89-69532BFCAB5A}"/>
              </a:ext>
            </a:extLst>
          </p:cNvPr>
          <p:cNvSpPr txBox="1"/>
          <p:nvPr/>
        </p:nvSpPr>
        <p:spPr>
          <a:xfrm>
            <a:off x="645458" y="2334127"/>
            <a:ext cx="105707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It’s used when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need to avoid expensive or unsafe real dependencies (databases, real production systems access, </a:t>
            </a:r>
            <a:br>
              <a:rPr lang="en-US"/>
            </a:br>
            <a:r>
              <a:rPr lang="en-US"/>
              <a:t>file systems, network services, etc.)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need a realistic logic, not just hardcoded inputs and/or returns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6AC5E-7A8F-69D9-6D84-687F1A43BC34}"/>
              </a:ext>
            </a:extLst>
          </p:cNvPr>
          <p:cNvSpPr txBox="1"/>
          <p:nvPr/>
        </p:nvSpPr>
        <p:spPr>
          <a:xfrm>
            <a:off x="557678" y="4296354"/>
            <a:ext cx="65224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cannot be used when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need to test a method against exact inputs and/or outputs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need to simulate failures or exceptions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when the logic is too complex or hard to replicate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CA2C0-401F-3093-1DBD-91A46EC4E547}"/>
              </a:ext>
            </a:extLst>
          </p:cNvPr>
          <p:cNvSpPr txBox="1"/>
          <p:nvPr/>
        </p:nvSpPr>
        <p:spPr>
          <a:xfrm>
            <a:off x="8007927" y="4622237"/>
            <a:ext cx="30903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Don’t fake when you can stub</a:t>
            </a:r>
          </a:p>
          <a:p>
            <a:r>
              <a:rPr lang="en-US">
                <a:solidFill>
                  <a:srgbClr val="FF0000"/>
                </a:solidFill>
              </a:rPr>
              <a:t>or mock easily =&gt;</a:t>
            </a:r>
            <a:br>
              <a:rPr lang="en-US">
                <a:solidFill>
                  <a:srgbClr val="FF0000"/>
                </a:solidFill>
              </a:rPr>
            </a:b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fakes can be overengineering</a:t>
            </a:r>
          </a:p>
        </p:txBody>
      </p:sp>
    </p:spTree>
    <p:extLst>
      <p:ext uri="{BB962C8B-B14F-4D97-AF65-F5344CB8AC3E}">
        <p14:creationId xmlns:p14="http://schemas.microsoft.com/office/powerpoint/2010/main" val="3043587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BA58B-D241-45F9-F973-F00A95EC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D96A8A-FA5A-BE47-9495-1F017A2B70C6}"/>
              </a:ext>
            </a:extLst>
          </p:cNvPr>
          <p:cNvSpPr txBox="1"/>
          <p:nvPr/>
        </p:nvSpPr>
        <p:spPr>
          <a:xfrm>
            <a:off x="334374" y="351335"/>
            <a:ext cx="187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Fakes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7B2E5E-459D-6373-65D7-124602D4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3BC86-CEBC-0D29-D891-5E31F4107C85}"/>
              </a:ext>
            </a:extLst>
          </p:cNvPr>
          <p:cNvSpPr txBox="1"/>
          <p:nvPr/>
        </p:nvSpPr>
        <p:spPr>
          <a:xfrm>
            <a:off x="580705" y="1169582"/>
            <a:ext cx="252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OrderRepository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save(Order order);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Order findLast();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6552A-A358-C8C8-B7AE-33659AA4A642}"/>
              </a:ext>
            </a:extLst>
          </p:cNvPr>
          <p:cNvSpPr txBox="1"/>
          <p:nvPr/>
        </p:nvSpPr>
        <p:spPr>
          <a:xfrm>
            <a:off x="580705" y="2136845"/>
            <a:ext cx="349326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String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double amount;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this.userId =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this.amount = amount;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FFBFB-0EC4-A335-874B-2D40F030DE07}"/>
              </a:ext>
            </a:extLst>
          </p:cNvPr>
          <p:cNvSpPr txBox="1"/>
          <p:nvPr/>
        </p:nvSpPr>
        <p:spPr>
          <a:xfrm>
            <a:off x="580704" y="4072591"/>
            <a:ext cx="4182555" cy="1754326"/>
          </a:xfrm>
          <a:prstGeom prst="rect">
            <a:avLst/>
          </a:prstGeom>
          <a:solidFill>
            <a:srgbClr val="FFFF00">
              <a:alpha val="9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OrderService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OrderRepository repository;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OrderService(OrderRepository repository)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this.repository = repository;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void placeOrder(String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Order order = new Order(userId, 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repository.save(order);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DFAD2-654E-5425-9794-29500DCA487E}"/>
              </a:ext>
            </a:extLst>
          </p:cNvPr>
          <p:cNvSpPr txBox="1"/>
          <p:nvPr/>
        </p:nvSpPr>
        <p:spPr>
          <a:xfrm>
            <a:off x="4904196" y="136525"/>
            <a:ext cx="4509568" cy="3046988"/>
          </a:xfrm>
          <a:prstGeom prst="rect">
            <a:avLst/>
          </a:prstGeom>
          <a:solidFill>
            <a:srgbClr val="00B0F0">
              <a:alpha val="6613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import java.util.ArrayList;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import java.util.List;</a:t>
            </a:r>
          </a:p>
          <a:p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public class FakeOrderRepository implements OrderRepository {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List&lt;Order&gt; orders = new ArrayList&lt;&gt;();</a:t>
            </a:r>
          </a:p>
          <a:p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public void save(Order order) {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    orders.add(order);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public Order findLast() {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    return orders.isEmpty() ? null : orders.get(orders.size() - 1);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public int count() {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    return orders.size();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public List&lt;Order&gt; getAll() {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ArrayList&lt;&gt;(orders);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1529A-8DBA-7C49-3F58-97A998F0C420}"/>
              </a:ext>
            </a:extLst>
          </p:cNvPr>
          <p:cNvSpPr txBox="1"/>
          <p:nvPr/>
        </p:nvSpPr>
        <p:spPr>
          <a:xfrm>
            <a:off x="6169891" y="3355529"/>
            <a:ext cx="4389343" cy="3000821"/>
          </a:xfrm>
          <a:prstGeom prst="rect">
            <a:avLst/>
          </a:prstGeom>
          <a:solidFill>
            <a:srgbClr val="92D050">
              <a:alpha val="10065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org.junit.jupiter.api.Test;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static org.junit.jupiter.api.Assertions.*;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OrderServiceTest {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@Test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savesOrderToFakeRepository()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Arrange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FakeOrderRepository repo = new FakeOrderRepository();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OrderService service = new OrderService(repo);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Act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service.placeOrder("alice@example.com", 42.0);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Assert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assertEquals(1, repo.count());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Order saved = repo.findLast();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assertEquals("alice@example.com", saved.userId);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assertEquals(42.0, saved.amount);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76C973-2331-6AE3-ACB5-B6A61DB85477}"/>
              </a:ext>
            </a:extLst>
          </p:cNvPr>
          <p:cNvCxnSpPr/>
          <p:nvPr/>
        </p:nvCxnSpPr>
        <p:spPr>
          <a:xfrm>
            <a:off x="3953164" y="3731491"/>
            <a:ext cx="332509" cy="591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2932D2-1039-066C-7D35-193CD13F81AE}"/>
              </a:ext>
            </a:extLst>
          </p:cNvPr>
          <p:cNvSpPr txBox="1"/>
          <p:nvPr/>
        </p:nvSpPr>
        <p:spPr>
          <a:xfrm>
            <a:off x="3260025" y="3458647"/>
            <a:ext cx="1386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System under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476764-5BDE-8401-00AF-BC25CECD907A}"/>
              </a:ext>
            </a:extLst>
          </p:cNvPr>
          <p:cNvSpPr txBox="1"/>
          <p:nvPr/>
        </p:nvSpPr>
        <p:spPr>
          <a:xfrm>
            <a:off x="9901382" y="526473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Fake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DC7BD2-6F16-CEDB-D1E9-94F49BA2044F}"/>
              </a:ext>
            </a:extLst>
          </p:cNvPr>
          <p:cNvCxnSpPr>
            <a:stCxn id="15" idx="1"/>
          </p:cNvCxnSpPr>
          <p:nvPr/>
        </p:nvCxnSpPr>
        <p:spPr>
          <a:xfrm flipH="1">
            <a:off x="9180945" y="657278"/>
            <a:ext cx="720437" cy="31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D7D2F62-DBEC-DB48-F4E5-2DFC95BC9556}"/>
              </a:ext>
            </a:extLst>
          </p:cNvPr>
          <p:cNvSpPr txBox="1"/>
          <p:nvPr/>
        </p:nvSpPr>
        <p:spPr>
          <a:xfrm>
            <a:off x="10857345" y="3197037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Test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38DFF5-BE7B-E1D4-BC77-CE6AF8CF893D}"/>
              </a:ext>
            </a:extLst>
          </p:cNvPr>
          <p:cNvCxnSpPr>
            <a:stCxn id="18" idx="1"/>
          </p:cNvCxnSpPr>
          <p:nvPr/>
        </p:nvCxnSpPr>
        <p:spPr>
          <a:xfrm flipH="1">
            <a:off x="10136908" y="3327842"/>
            <a:ext cx="720437" cy="31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922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98DCF-F800-44FB-B69C-95C1212A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CD545-D477-E9F5-B32A-C13E962B1FC9}"/>
              </a:ext>
            </a:extLst>
          </p:cNvPr>
          <p:cNvSpPr txBox="1"/>
          <p:nvPr/>
        </p:nvSpPr>
        <p:spPr>
          <a:xfrm>
            <a:off x="367645" y="433633"/>
            <a:ext cx="3656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When to use each Test Double type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378AA0-DE3C-93D3-B996-36D79BB83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709881"/>
              </p:ext>
            </p:extLst>
          </p:nvPr>
        </p:nvGraphicFramePr>
        <p:xfrm>
          <a:off x="529473" y="1313554"/>
          <a:ext cx="11133054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018">
                  <a:extLst>
                    <a:ext uri="{9D8B030D-6E8A-4147-A177-3AD203B41FA5}">
                      <a16:colId xmlns:a16="http://schemas.microsoft.com/office/drawing/2014/main" val="3855636087"/>
                    </a:ext>
                  </a:extLst>
                </a:gridCol>
                <a:gridCol w="3711018">
                  <a:extLst>
                    <a:ext uri="{9D8B030D-6E8A-4147-A177-3AD203B41FA5}">
                      <a16:colId xmlns:a16="http://schemas.microsoft.com/office/drawing/2014/main" val="3794023334"/>
                    </a:ext>
                  </a:extLst>
                </a:gridCol>
                <a:gridCol w="3711018">
                  <a:extLst>
                    <a:ext uri="{9D8B030D-6E8A-4147-A177-3AD203B41FA5}">
                      <a16:colId xmlns:a16="http://schemas.microsoft.com/office/drawing/2014/main" val="3826499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Recommended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5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Parameter required but not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Simplest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35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Need specific return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Provides necessary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87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Need realistic behavior without full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Working behavior but simplified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21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Verify method was called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Behavior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92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Track calls to real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Partial mocking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83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Testing 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Stub/Mock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Control exception throwing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29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Slow external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Fake/Stub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Avoid performance hit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20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Verify call order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Interaction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90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197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9305B-91BA-ACA0-9C44-FED2398F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713F-7377-7CFC-8CD7-A20F6F218CCA}"/>
              </a:ext>
            </a:extLst>
          </p:cNvPr>
          <p:cNvSpPr txBox="1"/>
          <p:nvPr/>
        </p:nvSpPr>
        <p:spPr>
          <a:xfrm>
            <a:off x="518474" y="452487"/>
            <a:ext cx="170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Code Coverage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8A27C-CE9D-64A7-3E63-5508060D05F5}"/>
              </a:ext>
            </a:extLst>
          </p:cNvPr>
          <p:cNvSpPr txBox="1"/>
          <p:nvPr/>
        </p:nvSpPr>
        <p:spPr>
          <a:xfrm>
            <a:off x="697583" y="1159497"/>
            <a:ext cx="964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Code coverage is a metric that measures the percentage of source code executed during testing.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4FCB5-D32D-0C4F-D117-5AB39F65C45A}"/>
              </a:ext>
            </a:extLst>
          </p:cNvPr>
          <p:cNvSpPr txBox="1"/>
          <p:nvPr/>
        </p:nvSpPr>
        <p:spPr>
          <a:xfrm>
            <a:off x="697583" y="2045617"/>
            <a:ext cx="665380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Identify gaps: Find code not exercised by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Measure completeness: Assess test suite comprehensiveness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Guide testing efforts: Focus on untested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Track progress: Monitor testing improvements over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404DD-4F4C-ED2B-2B6F-899B60E85D42}"/>
              </a:ext>
            </a:extLst>
          </p:cNvPr>
          <p:cNvSpPr txBox="1"/>
          <p:nvPr/>
        </p:nvSpPr>
        <p:spPr>
          <a:xfrm>
            <a:off x="518474" y="4593730"/>
            <a:ext cx="9568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IMPORTANT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High code coverage does NOT guarantee high code quality!!!</a:t>
            </a:r>
          </a:p>
          <a:p>
            <a:r>
              <a:rPr lang="en-US"/>
              <a:t>A high percentage only indicates which code was executed, not whether it was tested correctly.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D24A4-A30A-7026-E91B-69B133623BC9}"/>
              </a:ext>
            </a:extLst>
          </p:cNvPr>
          <p:cNvSpPr txBox="1"/>
          <p:nvPr/>
        </p:nvSpPr>
        <p:spPr>
          <a:xfrm>
            <a:off x="7658110" y="2045617"/>
            <a:ext cx="383630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int divide(int a, int b)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return a / b;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@Test public void testDivision()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assertEquals(6, divide(12, 2));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C9CC63-2C31-8A1B-025B-80636F09C359}"/>
              </a:ext>
            </a:extLst>
          </p:cNvPr>
          <p:cNvGrpSpPr/>
          <p:nvPr/>
        </p:nvGrpSpPr>
        <p:grpSpPr>
          <a:xfrm>
            <a:off x="7969487" y="3714161"/>
            <a:ext cx="3008901" cy="1246966"/>
            <a:chOff x="7969487" y="3714161"/>
            <a:chExt cx="3008901" cy="124696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B941026-4C2E-1CF9-501C-4BC4264A64A6}"/>
                </a:ext>
              </a:extLst>
            </p:cNvPr>
            <p:cNvCxnSpPr/>
            <p:nvPr/>
          </p:nvCxnSpPr>
          <p:spPr>
            <a:xfrm flipV="1">
              <a:off x="9473938" y="3714161"/>
              <a:ext cx="0" cy="7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481A36-1820-B4CF-6822-5EF66BF4C2CC}"/>
                </a:ext>
              </a:extLst>
            </p:cNvPr>
            <p:cNvSpPr txBox="1"/>
            <p:nvPr/>
          </p:nvSpPr>
          <p:spPr>
            <a:xfrm>
              <a:off x="7969487" y="4499462"/>
              <a:ext cx="30089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/>
                <a:t>100% code coverage... not properly tested!</a:t>
              </a:r>
              <a:br>
                <a:rPr lang="en-US" sz="1200"/>
              </a:br>
              <a:r>
                <a:rPr lang="en-US" sz="1200"/>
                <a:t>(division by zero missing)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360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023A-CE0A-DE92-87FD-992D63E8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F05537-1C62-3650-4FDB-947C7CD7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DCB65-F8F7-78C2-BA3F-F43F85C3702A}"/>
              </a:ext>
            </a:extLst>
          </p:cNvPr>
          <p:cNvSpPr txBox="1"/>
          <p:nvPr/>
        </p:nvSpPr>
        <p:spPr>
          <a:xfrm>
            <a:off x="518474" y="452487"/>
            <a:ext cx="2446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Code Coverage -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1D0136-D2C4-FC7E-7E92-02E2270BBAA3}"/>
              </a:ext>
            </a:extLst>
          </p:cNvPr>
          <p:cNvSpPr txBox="1"/>
          <p:nvPr/>
        </p:nvSpPr>
        <p:spPr>
          <a:xfrm>
            <a:off x="697583" y="1028343"/>
            <a:ext cx="998343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/>
              <a:t>Line Coverage</a:t>
            </a:r>
            <a:br>
              <a:rPr lang="en-US" sz="1600"/>
            </a:br>
            <a:r>
              <a:rPr lang="en-US" sz="1600"/>
              <a:t>Percentage of executable statements executed during testing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Branch Coverage</a:t>
            </a:r>
            <a:br>
              <a:rPr lang="en-US" sz="1600"/>
            </a:br>
            <a:r>
              <a:rPr lang="en-US" sz="1600"/>
              <a:t>Measures whether each decision point (if/else, switch) has been executed for both true and false conditions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Function Coverage</a:t>
            </a:r>
            <a:br>
              <a:rPr lang="en-US" sz="1600"/>
            </a:br>
            <a:r>
              <a:rPr lang="en-US" sz="1600"/>
              <a:t>Measures the percentage of functions/methods called at least once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Condition Coverage</a:t>
            </a:r>
            <a:br>
              <a:rPr lang="en-US" sz="1600"/>
            </a:br>
            <a:r>
              <a:rPr lang="en-US" sz="1600"/>
              <a:t>Ensures each Boolean sub-expression is evaluated to both true and false</a:t>
            </a:r>
            <a:br>
              <a:rPr lang="en-US" sz="1600"/>
            </a:b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Path Coverage</a:t>
            </a:r>
            <a:br>
              <a:rPr lang="en-US" sz="1600"/>
            </a:br>
            <a:r>
              <a:rPr lang="en-US" sz="1600"/>
              <a:t>Measures whether all possible execution paths through the code are tested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Loop Coverage</a:t>
            </a:r>
            <a:br>
              <a:rPr lang="en-US" sz="1600"/>
            </a:br>
            <a:r>
              <a:rPr lang="en-US" sz="1600"/>
              <a:t>Measures whether all possible execution paths through the code are tested</a:t>
            </a:r>
          </a:p>
        </p:txBody>
      </p:sp>
    </p:spTree>
    <p:extLst>
      <p:ext uri="{BB962C8B-B14F-4D97-AF65-F5344CB8AC3E}">
        <p14:creationId xmlns:p14="http://schemas.microsoft.com/office/powerpoint/2010/main" val="2242221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DA47D-0A6C-EAEF-5CA4-1DC1341F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 - Mocks, Stubs, Spies and Fakes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B856A-16D2-7A0E-67C2-2D56E1092560}"/>
              </a:ext>
            </a:extLst>
          </p:cNvPr>
          <p:cNvSpPr txBox="1"/>
          <p:nvPr/>
        </p:nvSpPr>
        <p:spPr>
          <a:xfrm>
            <a:off x="414779" y="433633"/>
            <a:ext cx="1048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Wrap-up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994E0-691E-E14C-8895-E73C7740577E}"/>
              </a:ext>
            </a:extLst>
          </p:cNvPr>
          <p:cNvSpPr txBox="1"/>
          <p:nvPr/>
        </p:nvSpPr>
        <p:spPr>
          <a:xfrm>
            <a:off x="650449" y="1121790"/>
            <a:ext cx="1106347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Test should be F.I.R.S.T.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Follow the A.A.A.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Test edge cases and boundaries =&gt; do not test only happy paths!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 not cover 100% if not needed =&gt; 80% is often sufficient =&gt; write tests to find bugs, not to hit percentages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Coverage as a guide, not a goal =&gt; Focus on critical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Bridge Design Pattern =&gt; it helps you use the Test Doubles via Dependency Injection (= design pattern</a:t>
            </a:r>
            <a:br>
              <a:rPr lang="en-US"/>
            </a:br>
            <a:r>
              <a:rPr lang="en-US"/>
              <a:t>where dependencies are provided to a class from the outside rather than created internally).</a:t>
            </a:r>
          </a:p>
        </p:txBody>
      </p:sp>
    </p:spTree>
    <p:extLst>
      <p:ext uri="{BB962C8B-B14F-4D97-AF65-F5344CB8AC3E}">
        <p14:creationId xmlns:p14="http://schemas.microsoft.com/office/powerpoint/2010/main" val="240992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3332</Words>
  <Application>Microsoft Macintosh PowerPoint</Application>
  <PresentationFormat>Widescreen</PresentationFormat>
  <Paragraphs>511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20</cp:revision>
  <dcterms:created xsi:type="dcterms:W3CDTF">2025-02-19T20:37:30Z</dcterms:created>
  <dcterms:modified xsi:type="dcterms:W3CDTF">2025-11-01T19:45:44Z</dcterms:modified>
</cp:coreProperties>
</file>